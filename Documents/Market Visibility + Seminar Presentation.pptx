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2" roundtripDataSignature="AMtx7mi13Akyg2UNAAtP/rtZQpwg1T8V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font" Target="fonts/Montserrat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Montserrat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-874713" y="0"/>
            <a:ext cx="3998913" cy="2249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/>
          <p:nvPr>
            <p:ph idx="2" type="sldImg"/>
          </p:nvPr>
        </p:nvSpPr>
        <p:spPr>
          <a:xfrm>
            <a:off x="-874713" y="0"/>
            <a:ext cx="3998913" cy="2249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/>
          <p:nvPr>
            <p:ph idx="2" type="sldImg"/>
          </p:nvPr>
        </p:nvSpPr>
        <p:spPr>
          <a:xfrm>
            <a:off x="-874713" y="0"/>
            <a:ext cx="3998913" cy="2249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7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11" Type="http://schemas.openxmlformats.org/officeDocument/2006/relationships/image" Target="../media/image5.png"/><Relationship Id="rId10" Type="http://schemas.openxmlformats.org/officeDocument/2006/relationships/image" Target="../media/image12.png"/><Relationship Id="rId9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6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38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38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png"/><Relationship Id="rId10" Type="http://schemas.openxmlformats.org/officeDocument/2006/relationships/image" Target="../media/image18.png"/><Relationship Id="rId13" Type="http://schemas.openxmlformats.org/officeDocument/2006/relationships/image" Target="../media/image27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38.png"/><Relationship Id="rId9" Type="http://schemas.openxmlformats.org/officeDocument/2006/relationships/image" Target="../media/image19.png"/><Relationship Id="rId15" Type="http://schemas.openxmlformats.org/officeDocument/2006/relationships/image" Target="../media/image5.png"/><Relationship Id="rId14" Type="http://schemas.openxmlformats.org/officeDocument/2006/relationships/image" Target="../media/image32.png"/><Relationship Id="rId16" Type="http://schemas.openxmlformats.org/officeDocument/2006/relationships/image" Target="../media/image8.png"/><Relationship Id="rId5" Type="http://schemas.openxmlformats.org/officeDocument/2006/relationships/image" Target="../media/image17.png"/><Relationship Id="rId6" Type="http://schemas.openxmlformats.org/officeDocument/2006/relationships/image" Target="../media/image30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5.png"/><Relationship Id="rId11" Type="http://schemas.openxmlformats.org/officeDocument/2006/relationships/image" Target="../media/image42.png"/><Relationship Id="rId10" Type="http://schemas.openxmlformats.org/officeDocument/2006/relationships/image" Target="../media/image37.png"/><Relationship Id="rId21" Type="http://schemas.openxmlformats.org/officeDocument/2006/relationships/image" Target="../media/image8.png"/><Relationship Id="rId13" Type="http://schemas.openxmlformats.org/officeDocument/2006/relationships/image" Target="../media/image40.png"/><Relationship Id="rId1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38.png"/><Relationship Id="rId9" Type="http://schemas.openxmlformats.org/officeDocument/2006/relationships/image" Target="../media/image44.png"/><Relationship Id="rId15" Type="http://schemas.openxmlformats.org/officeDocument/2006/relationships/image" Target="../media/image48.png"/><Relationship Id="rId14" Type="http://schemas.openxmlformats.org/officeDocument/2006/relationships/image" Target="../media/image50.png"/><Relationship Id="rId17" Type="http://schemas.openxmlformats.org/officeDocument/2006/relationships/image" Target="../media/image45.png"/><Relationship Id="rId16" Type="http://schemas.openxmlformats.org/officeDocument/2006/relationships/image" Target="../media/image49.png"/><Relationship Id="rId5" Type="http://schemas.openxmlformats.org/officeDocument/2006/relationships/image" Target="../media/image29.png"/><Relationship Id="rId19" Type="http://schemas.openxmlformats.org/officeDocument/2006/relationships/image" Target="../media/image46.png"/><Relationship Id="rId6" Type="http://schemas.openxmlformats.org/officeDocument/2006/relationships/image" Target="../media/image34.png"/><Relationship Id="rId18" Type="http://schemas.openxmlformats.org/officeDocument/2006/relationships/image" Target="../media/image43.png"/><Relationship Id="rId7" Type="http://schemas.openxmlformats.org/officeDocument/2006/relationships/image" Target="../media/image33.png"/><Relationship Id="rId8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hyperlink" Target="mailto:s-mohamed.farag@zewailcity.edu.eg" TargetMode="External"/><Relationship Id="rId10" Type="http://schemas.openxmlformats.org/officeDocument/2006/relationships/image" Target="../media/image55.pn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38.png"/><Relationship Id="rId9" Type="http://schemas.openxmlformats.org/officeDocument/2006/relationships/image" Target="../media/image51.png"/><Relationship Id="rId5" Type="http://schemas.openxmlformats.org/officeDocument/2006/relationships/image" Target="../media/image8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" name="Google Shape;5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" name="Google Shape;5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1717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" name="Google Shape;5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9450" y="3028950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" name="Google Shape;6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714500"/>
            <a:ext cx="17145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1" name="Google Shape;61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0"/>
            <a:ext cx="9144000" cy="8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29100" y="1979414"/>
            <a:ext cx="685800" cy="28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" name="Google Shape;63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5057775"/>
            <a:ext cx="91440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"/>
          <p:cNvSpPr/>
          <p:nvPr/>
        </p:nvSpPr>
        <p:spPr>
          <a:xfrm>
            <a:off x="1490186" y="515432"/>
            <a:ext cx="6323648" cy="647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1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Football Analysis System</a:t>
            </a:r>
            <a:endParaRPr/>
          </a:p>
          <a:p>
            <a:pPr indent="0" lvl="0" marL="0" marR="0" rtl="0" algn="ctr">
              <a:lnSpc>
                <a:spcPct val="1171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(Goal Sight)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1828800" y="1668066"/>
            <a:ext cx="5486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1565910" y="2239566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Montserrat"/>
              <a:buNone/>
            </a:pPr>
            <a:r>
              <a:rPr b="1" i="0" lang="en" sz="14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Team Members: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1408747" y="2553891"/>
            <a:ext cx="332613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7650" lvl="0" marL="2540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Montserrat"/>
              <a:buChar char="•"/>
            </a:pPr>
            <a:r>
              <a:rPr b="0" i="0" lang="en" sz="11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Ahmed Sameh Ezzat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1408747" y="2811065"/>
            <a:ext cx="332613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7650" lvl="0" marL="2540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Montserrat"/>
              <a:buChar char="•"/>
            </a:pPr>
            <a:r>
              <a:rPr b="0" i="0" lang="en" sz="11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Ahmed Amr Shalaby</a:t>
            </a:r>
            <a:endParaRPr b="0" i="0" sz="11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1408747" y="3068240"/>
            <a:ext cx="332613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7650" lvl="0" marL="2540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Montserrat"/>
              <a:buChar char="•"/>
            </a:pPr>
            <a:r>
              <a:rPr b="0" i="0" lang="en" sz="11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Mohamed Wael Farag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1408747" y="3325416"/>
            <a:ext cx="332613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7650" lvl="0" marL="2540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Montserrat"/>
              <a:buChar char="•"/>
            </a:pPr>
            <a:r>
              <a:rPr b="0" i="0" lang="en" sz="11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Hesham Ashraf Abdelaal</a:t>
            </a:r>
            <a:endParaRPr b="0" i="0" sz="11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"/>
          <p:cNvSpPr/>
          <p:nvPr/>
        </p:nvSpPr>
        <p:spPr>
          <a:xfrm>
            <a:off x="4686300" y="2239566"/>
            <a:ext cx="2628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Montserrat"/>
              <a:buNone/>
            </a:pPr>
            <a:r>
              <a:rPr b="1" i="0" lang="en" sz="14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Supervisor: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"/>
          <p:cNvSpPr/>
          <p:nvPr/>
        </p:nvSpPr>
        <p:spPr>
          <a:xfrm>
            <a:off x="4423410" y="2553891"/>
            <a:ext cx="315468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Dr. Yousry Abdulazeem,</a:t>
            </a:r>
            <a:br>
              <a:rPr b="0" i="0" lang="en" sz="110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" sz="1200" u="none" cap="none" strike="noStrike">
                <a:solidFill>
                  <a:srgbClr val="37415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Associate Professor at Zewail City of Science and Technology</a:t>
            </a:r>
            <a:endParaRPr b="0" i="0" sz="1200" u="none" cap="none" strike="noStrike">
              <a:solidFill>
                <a:srgbClr val="37415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ontserrat"/>
              <a:buNone/>
            </a:pPr>
            <a:r>
              <a:t/>
            </a:r>
            <a:endParaRPr b="0" i="0" sz="1100" u="none" cap="none" strike="noStrike">
              <a:solidFill>
                <a:srgbClr val="4B55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6665119" y="3943350"/>
            <a:ext cx="256317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Submission Date: [2025-11-21]</a:t>
            </a:r>
            <a:endParaRPr b="0" i="0" sz="1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" name="Google Shape;74;p1"/>
          <p:cNvGrpSpPr/>
          <p:nvPr/>
        </p:nvGrpSpPr>
        <p:grpSpPr>
          <a:xfrm>
            <a:off x="0" y="4484729"/>
            <a:ext cx="9144000" cy="573047"/>
            <a:chOff x="0" y="5979638"/>
            <a:chExt cx="12192000" cy="764062"/>
          </a:xfrm>
        </p:grpSpPr>
        <p:pic>
          <p:nvPicPr>
            <p:cNvPr descr="preencoded.png" id="75" name="Google Shape;75;p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0" y="5981700"/>
              <a:ext cx="1219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p1"/>
            <p:cNvSpPr/>
            <p:nvPr/>
          </p:nvSpPr>
          <p:spPr>
            <a:xfrm>
              <a:off x="10418445" y="6276975"/>
              <a:ext cx="1773555" cy="171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4B5563"/>
                </a:buClr>
                <a:buSzPts val="1400"/>
                <a:buFont typeface="Montserrat"/>
                <a:buNone/>
              </a:pPr>
              <a:r>
                <a:rPr b="1" i="0" lang="en" sz="1400" u="none" cap="none" strike="noStrike">
                  <a:solidFill>
                    <a:srgbClr val="4B556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CSAI School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7" name="Google Shape;77;p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16744" y="5979638"/>
              <a:ext cx="3740342" cy="76203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3" name="Google Shape;8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0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4" name="Google Shape;8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2"/>
          <p:cNvSpPr/>
          <p:nvPr/>
        </p:nvSpPr>
        <p:spPr>
          <a:xfrm>
            <a:off x="285750" y="157163"/>
            <a:ext cx="47434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Problem Statement 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285750" y="983900"/>
            <a:ext cx="8119500" cy="41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Problem Statement: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Limited Accessibility: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Detailed, real-time performance analytics in football are generally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inaccessible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most teams, players, and fans due to their prohibitively high cost.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Inefficient Current Methods: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Existing analysis techniques are often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manual, slow, or delayed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failing to provide the instantaneous data required for informed decisions during the flow of a match.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Impaired Professional Decision-Making: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lack of real-time data results in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Suboptimal Tactical Decisions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coaches and scouts, who miss opportunities to make informed adjustments during matches.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Hindered Development and Low Fan Engagement: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Players are unable to efficiently track their continuous development, while fans experience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 Engagement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due to minimal access to the deep, analytical insights that enrich their understanding of the game.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Motivation: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Democratization and Automation: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bridge the existing data gap by utilizing affordable AI (Computer Vision and Machine Learning) to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democratize football data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This automates the complex collection and analysis of real-time insights, making them available to all stakeholders (coaches, players, and fans).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Enhancing Professional Recruitment: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significantly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simplify the job for scouts and recruitment teams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providing comprehensive, automated performance data, including detailed historical reports for a player over their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last 20 matches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en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8744" y="0"/>
            <a:ext cx="2805257" cy="5715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8" name="Google Shape;8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571500"/>
            <a:ext cx="9144000" cy="35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46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5" name="Google Shape;9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7152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/>
          <p:nvPr/>
        </p:nvSpPr>
        <p:spPr>
          <a:xfrm>
            <a:off x="285750" y="142875"/>
            <a:ext cx="8572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Proposed Solution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57200" y="400050"/>
            <a:ext cx="3657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8744" y="0"/>
            <a:ext cx="2805257" cy="57152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/>
          <p:nvPr/>
        </p:nvSpPr>
        <p:spPr>
          <a:xfrm>
            <a:off x="140600" y="660400"/>
            <a:ext cx="81195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Proposed Solution Overview:</a:t>
            </a:r>
            <a:endParaRPr b="1" i="0" sz="1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solution is an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AI-powered football analysis system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provides real-time player and match statistics using computer vision and machine learning.</a:t>
            </a:r>
            <a:b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mobile app delivers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live match analytics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professionals (coaches, scouts, players).</a:t>
            </a:r>
            <a:b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website presents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post-match reports and match summarization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fans.</a:t>
            </a:r>
            <a:b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solution solves the problem by making advanced football analytics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accessible, automated, fast, and affordable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unlike traditional manual or expensive systems.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Key Features:</a:t>
            </a:r>
            <a:endParaRPr b="1" i="0" sz="1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Real-Time Match Analysis: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Live stats on goals, assists, distance covered, shots, and event detection directly on the match stream.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Vision Tracking: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Automatic player tracking and recognition of key events like goals, fouls, and assists.</a:t>
            </a:r>
            <a:b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Post-Match Statistics (Website):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Detailed match reports and summarization</a:t>
            </a:r>
            <a:b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Player Profiles &amp; History: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Interactive profiles with real-time data + past 5 match stats for performance tracking.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0" name="Google Shape;10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571500"/>
            <a:ext cx="9144000" cy="35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6" name="Google Shape;10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7" name="Google Shape;10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285750" y="157163"/>
            <a:ext cx="47434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Target Audience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8744" y="0"/>
            <a:ext cx="2805257" cy="57152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/>
          <p:nvPr/>
        </p:nvSpPr>
        <p:spPr>
          <a:xfrm>
            <a:off x="-246761" y="607224"/>
            <a:ext cx="8119500" cy="17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45720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Primary User Persona</a:t>
            </a:r>
            <a:endParaRPr b="1" i="0" sz="1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Coaches, scouts 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local clubs who want real-time, accurate, and affordable performance insights during and after matches.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User Characteristics</a:t>
            </a:r>
            <a:endParaRPr b="1" i="0" sz="1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Want to evaluate players quickly and objectively.</a:t>
            </a:r>
            <a:b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Often lack access to expensive analytics systems used by elite teams.</a:t>
            </a:r>
            <a:b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fast, clear stats during matches and easy performance tracking after games.</a:t>
            </a:r>
            <a:b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smartphones/tablets on the field or during training.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Need</a:t>
            </a:r>
            <a:endParaRPr b="1" i="0" sz="1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They need a tool that provides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real-time analysis, automatic event detection, and clear performance summaries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without requiring expensive equipment or manual tracking.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solution gives them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instant insights, better decision-making, and a cheaper alternative to professional systems.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b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1" name="Google Shape;11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571500"/>
            <a:ext cx="9144000" cy="35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7" name="Google Shape;11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"/>
            <a:ext cx="91440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8" name="Google Shape;11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9" name="Google Shape;11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" y="1177469"/>
            <a:ext cx="8572500" cy="3857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0" name="Google Shape;12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750" y="1177469"/>
            <a:ext cx="1804690" cy="3857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1" name="Google Shape;12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90440" y="1177469"/>
            <a:ext cx="2255862" cy="3857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2" name="Google Shape;122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46302" y="1177469"/>
            <a:ext cx="2255862" cy="3857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3" name="Google Shape;12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2165" y="1177469"/>
            <a:ext cx="2256085" cy="3857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4" name="Google Shape;12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5750" y="1563232"/>
            <a:ext cx="85725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5" name="Google Shape;125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85750" y="1563232"/>
            <a:ext cx="180469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6" name="Google Shape;126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90440" y="1563232"/>
            <a:ext cx="2255862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7" name="Google Shape;127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346302" y="1563232"/>
            <a:ext cx="2255862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8" name="Google Shape;128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02165" y="1563232"/>
            <a:ext cx="225608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9" name="Google Shape;129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85750" y="1906132"/>
            <a:ext cx="85725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0" name="Google Shape;130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85750" y="1906132"/>
            <a:ext cx="180469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1" name="Google Shape;131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90440" y="1906132"/>
            <a:ext cx="2255862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2" name="Google Shape;132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346302" y="1906132"/>
            <a:ext cx="2255862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3" name="Google Shape;133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02165" y="1906132"/>
            <a:ext cx="225608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4" name="Google Shape;134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85750" y="2249032"/>
            <a:ext cx="85725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5" name="Google Shape;135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85750" y="2249032"/>
            <a:ext cx="180469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6" name="Google Shape;136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90440" y="2249032"/>
            <a:ext cx="2255862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7" name="Google Shape;137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346302" y="2249032"/>
            <a:ext cx="2255862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8" name="Google Shape;138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02165" y="2249032"/>
            <a:ext cx="225608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9" name="Google Shape;139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85750" y="2591932"/>
            <a:ext cx="85725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0" name="Google Shape;140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85750" y="2591932"/>
            <a:ext cx="180469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1" name="Google Shape;141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90440" y="2591932"/>
            <a:ext cx="2255862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2" name="Google Shape;142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346302" y="2591932"/>
            <a:ext cx="2255862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3" name="Google Shape;143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02165" y="2591932"/>
            <a:ext cx="225608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4" name="Google Shape;144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85750" y="3192007"/>
            <a:ext cx="16430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/>
          <p:nvPr/>
        </p:nvSpPr>
        <p:spPr>
          <a:xfrm>
            <a:off x="285750" y="157163"/>
            <a:ext cx="569214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Competitive Analysis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285750" y="714375"/>
            <a:ext cx="658639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285750" y="1177469"/>
            <a:ext cx="180469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2090440" y="1177469"/>
            <a:ext cx="22560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</a:rPr>
              <a:t>Goal sight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346302" y="1177469"/>
            <a:ext cx="2255862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</a:rPr>
              <a:t>Opta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6602165" y="1177469"/>
            <a:ext cx="225608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</a:rPr>
              <a:t>General Sports App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392906" y="1563232"/>
            <a:ext cx="216562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 Technology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2143950" y="1563225"/>
            <a:ext cx="2256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+ Computer Vision (Real-Time Tracking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4453459" y="1563232"/>
            <a:ext cx="22558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Primarily Sensor/Manual Data Collection or Post-Match Video Analysis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6709321" y="1563232"/>
            <a:ext cx="22560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Basic Data Aggregation (Often delayed scores/stats)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92906" y="1906132"/>
            <a:ext cx="216562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Experience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2090450" y="1906125"/>
            <a:ext cx="24273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Live Stats on Match Stream + Mobile App UI (Designed for professionals)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453459" y="1906132"/>
            <a:ext cx="22558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Often professional-grade software (Desktop/Complex)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6709321" y="1906132"/>
            <a:ext cx="22560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Focus on scores, news, and basic stats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392906" y="2249032"/>
            <a:ext cx="216562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Integration Capability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2090450" y="2269275"/>
            <a:ext cx="2256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Built-in Real-Time Data (WebSockets) and Historical Tracking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422934" y="2302451"/>
            <a:ext cx="2256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Complex API integration for live data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6709321" y="2249032"/>
            <a:ext cx="22560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Limited or no API for detailed tracking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392906" y="2591932"/>
            <a:ext cx="216562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Structure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2144021" y="2599044"/>
            <a:ext cx="2256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Affordable AI-based system aimed at democratizing data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422934" y="2630088"/>
            <a:ext cx="2256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Very Expensive (Targeting elite clubs)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709321" y="2591932"/>
            <a:ext cx="22560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 or low-cost subscription (Basic service)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507206" y="3163432"/>
            <a:ext cx="8572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Key Differentiators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338744" y="0"/>
            <a:ext cx="2805257" cy="57152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5"/>
          <p:cNvSpPr/>
          <p:nvPr/>
        </p:nvSpPr>
        <p:spPr>
          <a:xfrm>
            <a:off x="450056" y="3492044"/>
            <a:ext cx="86298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AI analysis, unlike expensive or delayed competitor systems.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Affordable solution that makes advanced analytics accessible to smaller clubs.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Automatic event detection (goals, assists, fouls) using computer vision.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Player profiles with historical performance tracking.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Two-platform system: mobile app for live stats and website for post-match insights.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0" name="Google Shape;170;p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0" y="571500"/>
            <a:ext cx="9144000" cy="35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6" name="Google Shape;17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7" name="Google Shape;17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8" name="Google Shape;17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" y="1585913"/>
            <a:ext cx="8572500" cy="28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9" name="Google Shape;17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375" y="1528763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0" name="Google Shape;18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142875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1" name="Google Shape;181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7225" y="151447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2" name="Google Shape;18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7500" y="1528763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3" name="Google Shape;183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714625" y="180022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4" name="Google Shape;184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800350" y="188595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5" name="Google Shape;18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00625" y="1528763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6" name="Google Shape;186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57750" y="142875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7" name="Google Shape;187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943475" y="151447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8" name="Google Shape;188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143750" y="1528763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9" name="Google Shape;189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000875" y="180022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0" name="Google Shape;190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086600" y="188595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1" name="Google Shape;191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85750" y="3086100"/>
            <a:ext cx="2781276" cy="71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2" name="Google Shape;192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92906" y="3221831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3" name="Google Shape;193;p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181325" y="3086100"/>
            <a:ext cx="2781250" cy="71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4" name="Google Shape;194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288469" y="3221831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5" name="Google Shape;195;p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076875" y="3086100"/>
            <a:ext cx="2781375" cy="71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6" name="Google Shape;196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184032" y="3221831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6"/>
          <p:cNvSpPr/>
          <p:nvPr/>
        </p:nvSpPr>
        <p:spPr>
          <a:xfrm>
            <a:off x="285750" y="157163"/>
            <a:ext cx="47434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Roadmap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285750" y="785813"/>
            <a:ext cx="8572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Project Timeline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285750" y="985838"/>
            <a:ext cx="1028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This section outlines the high-level plan for the remainder of the project, detailing key phases and milestones to guide development.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0" y="177165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0" y="1943100"/>
            <a:ext cx="14287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Week 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2143125" y="2143125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2143125" y="2314575"/>
            <a:ext cx="14287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286250" y="177165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4286250" y="1943100"/>
            <a:ext cx="14287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Testing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6429375" y="2143125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Phase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6429375" y="2314575"/>
            <a:ext cx="14287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Launch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285750" y="2800350"/>
            <a:ext cx="8572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Key Milestones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564356" y="3193256"/>
            <a:ext cx="910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 10-12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392900" y="3421900"/>
            <a:ext cx="2607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lang="en" sz="800">
                <a:solidFill>
                  <a:srgbClr val="374151"/>
                </a:solidFill>
              </a:rPr>
              <a:t>Finalizing UI/UX wireframes and the database schema. Setting up the core development environment and APIs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3459919" y="3193256"/>
            <a:ext cx="91015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 13-16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3288475" y="3364775"/>
            <a:ext cx="267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lang="en" sz="700">
                <a:solidFill>
                  <a:srgbClr val="374151"/>
                </a:solidFill>
              </a:rPr>
              <a:t>Developing the foundational features, implementing real-time data collection protocols, and designing basic player profiles.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6355482" y="3193256"/>
            <a:ext cx="91015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 17-1</a:t>
            </a:r>
            <a:r>
              <a:rPr b="1" lang="en" sz="900"/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6184026" y="3421848"/>
            <a:ext cx="2674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lang="en" sz="700">
                <a:solidFill>
                  <a:schemeClr val="dk1"/>
                </a:solidFill>
              </a:rPr>
              <a:t>Completing core feature development and integrating the basic </a:t>
            </a:r>
            <a:r>
              <a:rPr b="1" lang="en" sz="700">
                <a:solidFill>
                  <a:schemeClr val="dk1"/>
                </a:solidFill>
              </a:rPr>
              <a:t>Computer Vision model</a:t>
            </a:r>
            <a:r>
              <a:rPr lang="en" sz="700">
                <a:solidFill>
                  <a:schemeClr val="dk1"/>
                </a:solidFill>
              </a:rPr>
              <a:t> for initial real-time player tracking</a:t>
            </a:r>
            <a:endParaRPr b="0" i="0" sz="500" u="none" cap="none" strike="noStrik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p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338744" y="0"/>
            <a:ext cx="2805257" cy="571529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6"/>
          <p:cNvSpPr/>
          <p:nvPr/>
        </p:nvSpPr>
        <p:spPr>
          <a:xfrm>
            <a:off x="899681" y="4322996"/>
            <a:ext cx="7344525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7" name="Google Shape;217;p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0" y="571500"/>
            <a:ext cx="9144000" cy="35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8" name="Google Shape;218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85750" y="4086225"/>
            <a:ext cx="2781276" cy="71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9" name="Google Shape;219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181338" y="4100500"/>
            <a:ext cx="2781276" cy="71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0" name="Google Shape;220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076925" y="4100500"/>
            <a:ext cx="2781276" cy="71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1" name="Google Shape;221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 rot="-101">
            <a:off x="392896" y="4186227"/>
            <a:ext cx="114300" cy="114297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6"/>
          <p:cNvSpPr txBox="1"/>
          <p:nvPr/>
        </p:nvSpPr>
        <p:spPr>
          <a:xfrm>
            <a:off x="507200" y="4086225"/>
            <a:ext cx="91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Week </a:t>
            </a:r>
            <a:r>
              <a:rPr b="1" lang="en" sz="900">
                <a:solidFill>
                  <a:schemeClr val="dk1"/>
                </a:solidFill>
              </a:rPr>
              <a:t>20-22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3402775" y="4100488"/>
            <a:ext cx="142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Week </a:t>
            </a:r>
            <a:r>
              <a:rPr b="1" lang="en" sz="900">
                <a:solidFill>
                  <a:schemeClr val="dk1"/>
                </a:solidFill>
              </a:rPr>
              <a:t>23-26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4" name="Google Shape;224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288469" y="4186231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5" name="Google Shape;225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184044" y="4233481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6"/>
          <p:cNvSpPr txBox="1"/>
          <p:nvPr/>
        </p:nvSpPr>
        <p:spPr>
          <a:xfrm>
            <a:off x="6298350" y="4129063"/>
            <a:ext cx="142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Week </a:t>
            </a:r>
            <a:r>
              <a:rPr b="1" lang="en" sz="900">
                <a:solidFill>
                  <a:schemeClr val="dk1"/>
                </a:solidFill>
              </a:rPr>
              <a:t>27-29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 txBox="1"/>
          <p:nvPr/>
        </p:nvSpPr>
        <p:spPr>
          <a:xfrm>
            <a:off x="261750" y="4288325"/>
            <a:ext cx="280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i</a:t>
            </a:r>
            <a:r>
              <a:rPr lang="en" sz="800">
                <a:solidFill>
                  <a:schemeClr val="dk1"/>
                </a:solidFill>
              </a:rPr>
              <a:t>ntegrating the full real-time match analysis features and beginning the iterative </a:t>
            </a:r>
            <a:r>
              <a:rPr b="1" lang="en" sz="800">
                <a:solidFill>
                  <a:schemeClr val="dk1"/>
                </a:solidFill>
              </a:rPr>
              <a:t>optimization of the Computer Vision model</a:t>
            </a:r>
            <a:r>
              <a:rPr lang="en" sz="800">
                <a:solidFill>
                  <a:schemeClr val="dk1"/>
                </a:solidFill>
              </a:rPr>
              <a:t> for higher accuracy.</a:t>
            </a:r>
            <a:endParaRPr sz="1100"/>
          </a:p>
        </p:txBody>
      </p:sp>
      <p:sp>
        <p:nvSpPr>
          <p:cNvPr id="228" name="Google Shape;228;p6"/>
          <p:cNvSpPr txBox="1"/>
          <p:nvPr/>
        </p:nvSpPr>
        <p:spPr>
          <a:xfrm>
            <a:off x="3234875" y="4243375"/>
            <a:ext cx="289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Completing the optimization of the CV model and refining app features like player profile pages. Finalizing the robust backend and database for performance data storage</a:t>
            </a:r>
            <a:endParaRPr sz="800"/>
          </a:p>
        </p:txBody>
      </p:sp>
      <p:sp>
        <p:nvSpPr>
          <p:cNvPr id="229" name="Google Shape;229;p6"/>
          <p:cNvSpPr txBox="1"/>
          <p:nvPr/>
        </p:nvSpPr>
        <p:spPr>
          <a:xfrm>
            <a:off x="6076925" y="4312725"/>
            <a:ext cx="280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Performing comprehensive </a:t>
            </a:r>
            <a:r>
              <a:rPr b="1" lang="en" sz="800">
                <a:solidFill>
                  <a:schemeClr val="dk1"/>
                </a:solidFill>
              </a:rPr>
              <a:t>system testing</a:t>
            </a:r>
            <a:r>
              <a:rPr lang="en" sz="800">
                <a:solidFill>
                  <a:schemeClr val="dk1"/>
                </a:solidFill>
              </a:rPr>
              <a:t> for real-time data accuracy, speed and reliability. Preparing the final demo, documentation, and collecting user feedback.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5" name="Google Shape;23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6" name="Google Shape;23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7" name="Google Shape;23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71500"/>
            <a:ext cx="9144000" cy="35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8" name="Google Shape;23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14500" y="1407319"/>
            <a:ext cx="571500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9" name="Google Shape;239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28813" y="1935956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0" name="Google Shape;240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14538" y="2021681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1" name="Google Shape;241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928813" y="2336006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2" name="Google Shape;242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14538" y="2421731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7"/>
          <p:cNvSpPr/>
          <p:nvPr/>
        </p:nvSpPr>
        <p:spPr>
          <a:xfrm>
            <a:off x="285750" y="157163"/>
            <a:ext cx="47434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2469728" y="892969"/>
            <a:ext cx="420454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 &amp; Questions?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1928813" y="1621631"/>
            <a:ext cx="52863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Team Contact Information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2321726" y="1993100"/>
            <a:ext cx="1953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b="0" i="0" lang="en" sz="9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s-mohamed.farag@zewailcity.edu.eg</a:t>
            </a:r>
            <a:endParaRPr b="0" i="0" sz="900" u="none" cap="none" strike="noStrik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2321743" y="2393150"/>
            <a:ext cx="4694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+201552007412 | +201144973200 | +201091312453 | +201115353314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2375308" y="3178969"/>
            <a:ext cx="439327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We welcome your feedback and insights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2375308" y="3436144"/>
            <a:ext cx="439327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CSAI School | Zewail City of Science, Technology and Innovation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38744" y="0"/>
            <a:ext cx="2805257" cy="571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